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2B612-1533-C4B6-E8CA-45299298B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E203F0-33FA-FCF0-660A-D3299BF06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4E968-D8BA-253A-7926-F6092EBE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D38687-C41C-167C-E61F-A47DC7C0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C5E556-87B0-D3FF-C373-21E94B0C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4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52844-5AC5-08E5-7ADA-01F14A6E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63399-5439-8A8B-D39E-41B8A81C8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CD0D36-6BF4-9B0C-3C21-F1DFCCAA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FC2C5-7649-E6AB-E132-971CB6E8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F73115-29F4-4D9C-7C07-1A9C12D5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70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2ABAD-589D-260E-8415-22F43888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EAC4F-FF9C-7DC2-0EDE-818DA78E1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F5CF2-2497-3FE0-B136-0BB523B8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F9037-7419-348D-40E1-9BB23CE0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D4FA0-CD0A-ADB8-F0FC-8E3D566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0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E8609-F4B1-FCE7-7BC3-413AE5D3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2BC95-B829-7190-F7AC-8816E8571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5CC723-B8EB-75EF-6831-6E191E8D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706B1-2945-6731-F6D9-90874F53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41217-63E5-CE14-6FFD-B74576EC5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948AFF-0AA4-3052-F560-748A79A7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97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54938-4CB8-11FF-C59B-0EA5B2E7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B478DC-8C4F-654E-FA81-E849D870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E39B39-E188-92DF-43B3-67B5AE19A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7C9951-69D6-FA8D-9AC8-A8879151F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A22F1F-FE0C-D54C-4B3B-106870BDF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077C45-E144-C37B-9DBB-2A2C25F2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5D5182-0911-56F2-9E3C-C25208DB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5B0236-37BB-1498-B34D-C8C32499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77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A3CD0-D49B-EAB8-4B7E-DD173672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61BCD1-19F7-BA85-249D-45EC71FC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B1D9CA-DB65-8F2D-2238-F99D84D22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7613A8-6652-07D1-EE51-62C7D9BA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61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98DA15-2952-C011-DF43-68500804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78169F-65B4-8A59-F273-3E948121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7E37A7-9338-A885-391F-A64B81872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D2755-FDD6-7774-BAB5-A35DCE85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EAFC8-D485-0E58-CE38-42A136FE1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74920C-FC38-40F7-4A15-E9F33DCF0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E4D5B2-6C21-04B9-4B19-4642487A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B6268C-F48E-3E7D-0ECF-47A845E1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8D5761-F0A3-CC91-D3E7-8091EB75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60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54C85-3FC8-C3D0-EB21-AFAA04A1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D0B30B-49F1-ECBB-92F1-76528FA87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559258-748C-1AA1-BEC1-6946F4D19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303B28-2ECC-8A44-ECF6-57251AB1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449B7B-F808-D531-9EA7-8231B916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EF0E5-5EDF-93E8-C708-EBA18C41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56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80B10-B141-5E2F-87E9-4F12F4FD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499863-DFEE-CB9F-4872-B10AC46BF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8EBF2-E239-64D7-892F-B4C086D6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982D27-80AE-9E20-4207-E7E060EC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964BD-BB02-DFCB-6F73-7BDC7EAF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43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A62FE5-551F-8EF5-F9A1-7E6EFDB6E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5863E-B6AD-8730-020E-220E43634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4D608-DE52-0CC3-DCC3-BEC15429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D6857-3089-CEDD-A9C0-EFB99387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E14DB2-32F9-D992-38DB-1001052D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10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7FE893-E48E-3D55-6635-9369F5AA7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4EB0A9-C28C-C190-4E36-56B50E6D2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1B2B5E-3F86-F75C-9DEF-D8AD16EFF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83BE2-65A3-4E5B-B112-8897BDF80FE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893FB-A3DE-3BC4-DBFB-6A767C06E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3EAEB6-6EAA-9C19-87B1-DF64ABAE2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01275-C08F-4DA0-A1AB-B88296D99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59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A8B8D2-F11A-362F-7D7F-C8EF93EFE3E8}"/>
              </a:ext>
            </a:extLst>
          </p:cNvPr>
          <p:cNvSpPr/>
          <p:nvPr/>
        </p:nvSpPr>
        <p:spPr>
          <a:xfrm>
            <a:off x="1928514" y="3399809"/>
            <a:ext cx="4320000" cy="162000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24B6FE-2CA5-AA25-6765-6EACEB82819B}"/>
              </a:ext>
            </a:extLst>
          </p:cNvPr>
          <p:cNvSpPr/>
          <p:nvPr/>
        </p:nvSpPr>
        <p:spPr>
          <a:xfrm>
            <a:off x="6373670" y="3399809"/>
            <a:ext cx="4320000" cy="1620000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393E9A-1140-B27D-4E69-A0FFA773B8EA}"/>
              </a:ext>
            </a:extLst>
          </p:cNvPr>
          <p:cNvSpPr/>
          <p:nvPr/>
        </p:nvSpPr>
        <p:spPr>
          <a:xfrm>
            <a:off x="6373670" y="1638647"/>
            <a:ext cx="4320000" cy="162000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B1A78F-BD96-8D94-3717-5581682AA036}"/>
              </a:ext>
            </a:extLst>
          </p:cNvPr>
          <p:cNvCxnSpPr/>
          <p:nvPr/>
        </p:nvCxnSpPr>
        <p:spPr>
          <a:xfrm flipV="1">
            <a:off x="1865936" y="1293282"/>
            <a:ext cx="0" cy="3768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455C40C-3080-5EB4-1041-CDAE0DA5EEE5}"/>
              </a:ext>
            </a:extLst>
          </p:cNvPr>
          <p:cNvCxnSpPr>
            <a:cxnSpLocks/>
          </p:cNvCxnSpPr>
          <p:nvPr/>
        </p:nvCxnSpPr>
        <p:spPr>
          <a:xfrm>
            <a:off x="1846984" y="5090391"/>
            <a:ext cx="92210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FF915A9-CDA7-1D6F-65A1-AD07F7DD99DD}"/>
              </a:ext>
            </a:extLst>
          </p:cNvPr>
          <p:cNvCxnSpPr>
            <a:cxnSpLocks/>
          </p:cNvCxnSpPr>
          <p:nvPr/>
        </p:nvCxnSpPr>
        <p:spPr>
          <a:xfrm>
            <a:off x="1856509" y="3329228"/>
            <a:ext cx="8837161" cy="0"/>
          </a:xfrm>
          <a:prstGeom prst="line">
            <a:avLst/>
          </a:prstGeom>
          <a:ln w="25400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414D389-366D-3C3E-E087-8E9E4AF7DAC3}"/>
              </a:ext>
            </a:extLst>
          </p:cNvPr>
          <p:cNvCxnSpPr>
            <a:cxnSpLocks/>
          </p:cNvCxnSpPr>
          <p:nvPr/>
        </p:nvCxnSpPr>
        <p:spPr>
          <a:xfrm flipV="1">
            <a:off x="6311092" y="1638647"/>
            <a:ext cx="0" cy="3413644"/>
          </a:xfrm>
          <a:prstGeom prst="line">
            <a:avLst/>
          </a:prstGeom>
          <a:ln w="25400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82CA125-87DD-F0A5-5349-A1C0340C50AD}"/>
              </a:ext>
            </a:extLst>
          </p:cNvPr>
          <p:cNvSpPr txBox="1"/>
          <p:nvPr/>
        </p:nvSpPr>
        <p:spPr>
          <a:xfrm rot="16200000">
            <a:off x="344044" y="3169086"/>
            <a:ext cx="2588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adoption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719A2E-A193-0C0F-9D87-DC774CE1A889}"/>
              </a:ext>
            </a:extLst>
          </p:cNvPr>
          <p:cNvSpPr txBox="1"/>
          <p:nvPr/>
        </p:nvSpPr>
        <p:spPr>
          <a:xfrm rot="16200000">
            <a:off x="1290903" y="1460166"/>
            <a:ext cx="660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98B712-317D-D6C8-0642-7E478C8B36F6}"/>
              </a:ext>
            </a:extLst>
          </p:cNvPr>
          <p:cNvSpPr txBox="1"/>
          <p:nvPr/>
        </p:nvSpPr>
        <p:spPr>
          <a:xfrm rot="16200000">
            <a:off x="1290902" y="4568202"/>
            <a:ext cx="660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EDB586-F3B7-ACBF-A5AA-2FB409BDF3C9}"/>
              </a:ext>
            </a:extLst>
          </p:cNvPr>
          <p:cNvSpPr txBox="1"/>
          <p:nvPr/>
        </p:nvSpPr>
        <p:spPr>
          <a:xfrm>
            <a:off x="1856569" y="5061816"/>
            <a:ext cx="660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C6D51A-1C10-D264-57BD-0D86052358EF}"/>
              </a:ext>
            </a:extLst>
          </p:cNvPr>
          <p:cNvSpPr txBox="1"/>
          <p:nvPr/>
        </p:nvSpPr>
        <p:spPr>
          <a:xfrm>
            <a:off x="10322334" y="5061816"/>
            <a:ext cx="660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1F2079-15B1-A87F-A607-0112D2928835}"/>
              </a:ext>
            </a:extLst>
          </p:cNvPr>
          <p:cNvSpPr txBox="1"/>
          <p:nvPr/>
        </p:nvSpPr>
        <p:spPr>
          <a:xfrm>
            <a:off x="5213703" y="5131197"/>
            <a:ext cx="22029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Passenger acceptance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22158E-37BF-A154-7AED-D076D6EF91FF}"/>
              </a:ext>
            </a:extLst>
          </p:cNvPr>
          <p:cNvSpPr txBox="1"/>
          <p:nvPr/>
        </p:nvSpPr>
        <p:spPr>
          <a:xfrm>
            <a:off x="2024652" y="3956638"/>
            <a:ext cx="36000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dirty="0"/>
              <a:t>Risk of marginalisation:</a:t>
            </a:r>
          </a:p>
          <a:p>
            <a:r>
              <a:rPr lang="en-US" altLang="zh-CN" dirty="0"/>
              <a:t>• Low supply combined with weak demand </a:t>
            </a:r>
          </a:p>
          <a:p>
            <a:r>
              <a:rPr lang="en-US" altLang="zh-CN" dirty="0"/>
              <a:t>• Ridership loss and financial vulnerability </a:t>
            </a:r>
          </a:p>
          <a:p>
            <a:r>
              <a:rPr lang="en-US" altLang="zh-CN" dirty="0"/>
              <a:t>• Reduced transport sustainability and equity</a:t>
            </a:r>
            <a:endParaRPr lang="en-GB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4E2C0D-58D5-1977-E8D1-D011461B69F4}"/>
              </a:ext>
            </a:extLst>
          </p:cNvPr>
          <p:cNvSpPr/>
          <p:nvPr/>
        </p:nvSpPr>
        <p:spPr>
          <a:xfrm>
            <a:off x="1928514" y="1638647"/>
            <a:ext cx="4320000" cy="1620000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CF3860-28FC-D968-17F7-38A807610C81}"/>
              </a:ext>
            </a:extLst>
          </p:cNvPr>
          <p:cNvSpPr txBox="1"/>
          <p:nvPr/>
        </p:nvSpPr>
        <p:spPr>
          <a:xfrm>
            <a:off x="6371478" y="1669963"/>
            <a:ext cx="4311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sz="1400" dirty="0"/>
              <a:t>Scenario 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A97EAF-9164-CE40-7F80-B6ACC7615059}"/>
              </a:ext>
            </a:extLst>
          </p:cNvPr>
          <p:cNvSpPr txBox="1"/>
          <p:nvPr/>
        </p:nvSpPr>
        <p:spPr>
          <a:xfrm rot="20456221">
            <a:off x="4347310" y="2622069"/>
            <a:ext cx="2715192" cy="1899909"/>
          </a:xfrm>
          <a:prstGeom prst="rect">
            <a:avLst/>
          </a:prstGeom>
          <a:noFill/>
        </p:spPr>
        <p:txBody>
          <a:bodyPr spcFirstLastPara="1" wrap="square" numCol="1">
            <a:prstTxWarp prst="textArchUp">
              <a:avLst>
                <a:gd name="adj" fmla="val 10998440"/>
              </a:avLst>
            </a:prstTxWarp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Demand loss induced supply contraction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84F7126-DC20-FFB5-6BAC-887C6A31165A}"/>
              </a:ext>
            </a:extLst>
          </p:cNvPr>
          <p:cNvSpPr txBox="1"/>
          <p:nvPr/>
        </p:nvSpPr>
        <p:spPr>
          <a:xfrm rot="20038519">
            <a:off x="5626006" y="3042099"/>
            <a:ext cx="2512004" cy="933527"/>
          </a:xfrm>
          <a:prstGeom prst="rect">
            <a:avLst/>
          </a:prstGeom>
          <a:noFill/>
        </p:spPr>
        <p:txBody>
          <a:bodyPr spcFirstLastPara="1" wrap="square" numCol="1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Supply contraction induced demand loss</a:t>
            </a:r>
            <a:endParaRPr lang="en-GB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0A6181-6324-D74A-752E-E66CA42C797D}"/>
              </a:ext>
            </a:extLst>
          </p:cNvPr>
          <p:cNvSpPr txBox="1"/>
          <p:nvPr/>
        </p:nvSpPr>
        <p:spPr>
          <a:xfrm>
            <a:off x="1973606" y="2351323"/>
            <a:ext cx="36458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dirty="0"/>
              <a:t>Scenario </a:t>
            </a:r>
            <a:r>
              <a:rPr lang="en-US" altLang="zh-CN" dirty="0"/>
              <a:t>2</a:t>
            </a:r>
          </a:p>
          <a:p>
            <a:r>
              <a:rPr lang="en-GB" altLang="zh-CN" b="0" dirty="0"/>
              <a:t>Service oversupply</a:t>
            </a:r>
            <a:endParaRPr lang="zh-CN" altLang="en-US" b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17B4C4-7AB3-8182-2E2C-4286165C0DF6}"/>
              </a:ext>
            </a:extLst>
          </p:cNvPr>
          <p:cNvSpPr txBox="1"/>
          <p:nvPr/>
        </p:nvSpPr>
        <p:spPr>
          <a:xfrm>
            <a:off x="1936043" y="3647898"/>
            <a:ext cx="42986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sz="1400" dirty="0"/>
              <a:t>Scenario </a:t>
            </a:r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29B759-ED04-6C4C-C5E1-ACBD17675689}"/>
              </a:ext>
            </a:extLst>
          </p:cNvPr>
          <p:cNvSpPr txBox="1"/>
          <p:nvPr/>
        </p:nvSpPr>
        <p:spPr>
          <a:xfrm>
            <a:off x="6360487" y="3775264"/>
            <a:ext cx="4322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sz="1400"/>
              <a:t>Scenario </a:t>
            </a:r>
            <a:r>
              <a:rPr lang="en-US" altLang="zh-CN" sz="1400"/>
              <a:t>3</a:t>
            </a:r>
          </a:p>
          <a:p>
            <a:r>
              <a:rPr lang="en-GB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Unmet demand</a:t>
            </a:r>
            <a:endParaRPr lang="zh-CN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B266D20-3641-1423-567F-FE57BB85C11F}"/>
              </a:ext>
            </a:extLst>
          </p:cNvPr>
          <p:cNvSpPr txBox="1"/>
          <p:nvPr/>
        </p:nvSpPr>
        <p:spPr>
          <a:xfrm rot="19624685">
            <a:off x="2077008" y="2014134"/>
            <a:ext cx="3071857" cy="212384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>
            <a:defPPr>
              <a:defRPr lang="zh-CN"/>
            </a:defPPr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GB" altLang="zh-CN" dirty="0"/>
              <a:t>Supply supported demand growth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8F007E8-C2FA-0E36-301E-17F88D2F6FAF}"/>
              </a:ext>
            </a:extLst>
          </p:cNvPr>
          <p:cNvSpPr txBox="1"/>
          <p:nvPr/>
        </p:nvSpPr>
        <p:spPr>
          <a:xfrm rot="19452685">
            <a:off x="7638979" y="2944822"/>
            <a:ext cx="3038873" cy="1729925"/>
          </a:xfrm>
          <a:prstGeom prst="rect">
            <a:avLst/>
          </a:prstGeom>
          <a:noFill/>
        </p:spPr>
        <p:txBody>
          <a:bodyPr spcFirstLastPara="1" wrap="square" numCol="1">
            <a:prstTxWarp prst="textArchDown">
              <a:avLst>
                <a:gd name="adj" fmla="val 466607"/>
              </a:avLst>
            </a:prstTxWarp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dirty="0"/>
              <a:t>Demand stimulated supply expansion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C9CF806A-4B06-AC71-A09E-867F7A97D1B8}"/>
              </a:ext>
            </a:extLst>
          </p:cNvPr>
          <p:cNvSpPr/>
          <p:nvPr/>
        </p:nvSpPr>
        <p:spPr>
          <a:xfrm rot="10800000">
            <a:off x="5779649" y="3041948"/>
            <a:ext cx="4640339" cy="1694226"/>
          </a:xfrm>
          <a:custGeom>
            <a:avLst/>
            <a:gdLst>
              <a:gd name="connsiteX0" fmla="*/ 0 w 3409950"/>
              <a:gd name="connsiteY0" fmla="*/ 1222102 h 1222102"/>
              <a:gd name="connsiteX1" fmla="*/ 406400 w 3409950"/>
              <a:gd name="connsiteY1" fmla="*/ 529952 h 1222102"/>
              <a:gd name="connsiteX2" fmla="*/ 1193800 w 3409950"/>
              <a:gd name="connsiteY2" fmla="*/ 79102 h 1222102"/>
              <a:gd name="connsiteX3" fmla="*/ 3409950 w 3409950"/>
              <a:gd name="connsiteY3" fmla="*/ 2902 h 122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9950" h="1222102">
                <a:moveTo>
                  <a:pt x="0" y="1222102"/>
                </a:moveTo>
                <a:cubicBezTo>
                  <a:pt x="103716" y="971277"/>
                  <a:pt x="207433" y="720452"/>
                  <a:pt x="406400" y="529952"/>
                </a:cubicBezTo>
                <a:cubicBezTo>
                  <a:pt x="605367" y="339452"/>
                  <a:pt x="693208" y="166944"/>
                  <a:pt x="1193800" y="79102"/>
                </a:cubicBezTo>
                <a:cubicBezTo>
                  <a:pt x="1694392" y="-8740"/>
                  <a:pt x="2552171" y="-2919"/>
                  <a:pt x="3409950" y="2902"/>
                </a:cubicBezTo>
              </a:path>
            </a:pathLst>
          </a:custGeom>
          <a:ln w="50800">
            <a:solidFill>
              <a:srgbClr val="00B050"/>
            </a:solidFill>
            <a:prstDash val="sysDash"/>
            <a:headEnd type="triangl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altLang="zh-CN" sz="1400" dirty="0"/>
          </a:p>
          <a:p>
            <a:pPr algn="ctr"/>
            <a:endParaRPr lang="zh-CN" altLang="en-US" sz="1400" dirty="0"/>
          </a:p>
        </p:txBody>
      </p:sp>
      <p:sp>
        <p:nvSpPr>
          <p:cNvPr id="53" name="弧形 52">
            <a:extLst>
              <a:ext uri="{FF2B5EF4-FFF2-40B4-BE49-F238E27FC236}">
                <a16:creationId xmlns:a16="http://schemas.microsoft.com/office/drawing/2014/main" id="{4E94D477-988E-F0F4-7603-8DEEE4CA5929}"/>
              </a:ext>
            </a:extLst>
          </p:cNvPr>
          <p:cNvSpPr/>
          <p:nvPr/>
        </p:nvSpPr>
        <p:spPr>
          <a:xfrm rot="16200000">
            <a:off x="5266274" y="1258035"/>
            <a:ext cx="2384852" cy="4571422"/>
          </a:xfrm>
          <a:prstGeom prst="arc">
            <a:avLst>
              <a:gd name="adj1" fmla="val 16005342"/>
              <a:gd name="adj2" fmla="val 290690"/>
            </a:avLst>
          </a:prstGeom>
          <a:noFill/>
          <a:ln w="50800">
            <a:solidFill>
              <a:srgbClr val="FF0000"/>
            </a:solidFill>
            <a:prstDash val="solid"/>
            <a:headEnd type="triangl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5F70FE0-BD95-E3ED-8733-5C7860768AE8}"/>
              </a:ext>
            </a:extLst>
          </p:cNvPr>
          <p:cNvSpPr/>
          <p:nvPr/>
        </p:nvSpPr>
        <p:spPr>
          <a:xfrm>
            <a:off x="2173162" y="1975528"/>
            <a:ext cx="4640339" cy="1694226"/>
          </a:xfrm>
          <a:custGeom>
            <a:avLst/>
            <a:gdLst>
              <a:gd name="connsiteX0" fmla="*/ 0 w 3409950"/>
              <a:gd name="connsiteY0" fmla="*/ 1222102 h 1222102"/>
              <a:gd name="connsiteX1" fmla="*/ 406400 w 3409950"/>
              <a:gd name="connsiteY1" fmla="*/ 529952 h 1222102"/>
              <a:gd name="connsiteX2" fmla="*/ 1193800 w 3409950"/>
              <a:gd name="connsiteY2" fmla="*/ 79102 h 1222102"/>
              <a:gd name="connsiteX3" fmla="*/ 3409950 w 3409950"/>
              <a:gd name="connsiteY3" fmla="*/ 2902 h 122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9950" h="1222102">
                <a:moveTo>
                  <a:pt x="0" y="1222102"/>
                </a:moveTo>
                <a:cubicBezTo>
                  <a:pt x="103716" y="971277"/>
                  <a:pt x="207433" y="720452"/>
                  <a:pt x="406400" y="529952"/>
                </a:cubicBezTo>
                <a:cubicBezTo>
                  <a:pt x="605367" y="339452"/>
                  <a:pt x="693208" y="166944"/>
                  <a:pt x="1193800" y="79102"/>
                </a:cubicBezTo>
                <a:cubicBezTo>
                  <a:pt x="1694392" y="-8740"/>
                  <a:pt x="2552171" y="-2919"/>
                  <a:pt x="3409950" y="2902"/>
                </a:cubicBezTo>
              </a:path>
            </a:pathLst>
          </a:custGeom>
          <a:ln w="50800">
            <a:solidFill>
              <a:srgbClr val="00B050"/>
            </a:solidFill>
            <a:prstDash val="sysDash"/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82C4588E-2F9E-6D9E-4861-D34997F32E87}"/>
              </a:ext>
            </a:extLst>
          </p:cNvPr>
          <p:cNvSpPr/>
          <p:nvPr/>
        </p:nvSpPr>
        <p:spPr>
          <a:xfrm rot="5400000">
            <a:off x="4709048" y="886087"/>
            <a:ext cx="2384852" cy="4571422"/>
          </a:xfrm>
          <a:prstGeom prst="arc">
            <a:avLst>
              <a:gd name="adj1" fmla="val 16005342"/>
              <a:gd name="adj2" fmla="val 290690"/>
            </a:avLst>
          </a:prstGeom>
          <a:noFill/>
          <a:ln w="50800">
            <a:solidFill>
              <a:srgbClr val="FF0000"/>
            </a:solidFill>
            <a:prstDash val="solid"/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B5A4C67-FE3F-4402-2847-19A4FED38F0D}"/>
              </a:ext>
            </a:extLst>
          </p:cNvPr>
          <p:cNvSpPr txBox="1"/>
          <p:nvPr/>
        </p:nvSpPr>
        <p:spPr>
          <a:xfrm>
            <a:off x="6934028" y="1964462"/>
            <a:ext cx="36000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Hope for renaissance: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supply matched by strong demand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Stable ridership and financial viability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transport sustainability and equity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0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84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Shen, Jinxing</dc:creator>
  <cp:lastModifiedBy>Jinxing shen</cp:lastModifiedBy>
  <cp:revision>24</cp:revision>
  <dcterms:created xsi:type="dcterms:W3CDTF">2025-09-19T16:27:37Z</dcterms:created>
  <dcterms:modified xsi:type="dcterms:W3CDTF">2026-09-07T17:14:10Z</dcterms:modified>
</cp:coreProperties>
</file>